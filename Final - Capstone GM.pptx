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2ef2f06087_0_295:notes"/>
          <p:cNvSpPr/>
          <p:nvPr>
            <p:ph idx="2" type="sldImg"/>
          </p:nvPr>
        </p:nvSpPr>
        <p:spPr>
          <a:xfrm>
            <a:off x="327025" y="687321"/>
            <a:ext cx="6204000" cy="34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" name="Google Shape;45;g32ef2f06087_0_295:notes"/>
          <p:cNvSpPr txBox="1"/>
          <p:nvPr>
            <p:ph idx="1" type="body"/>
          </p:nvPr>
        </p:nvSpPr>
        <p:spPr>
          <a:xfrm>
            <a:off x="685800" y="434340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2ef2f06087_0_295:notes"/>
          <p:cNvSpPr txBox="1"/>
          <p:nvPr>
            <p:ph idx="12" type="sldNum"/>
          </p:nvPr>
        </p:nvSpPr>
        <p:spPr>
          <a:xfrm>
            <a:off x="3884613" y="8685226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040f713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040f713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/>
              <a:t>Challenges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8149f52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8149f52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8149f52d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8149f52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8149f52d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8149f52d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the table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8149f52d9_0_2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8149f52d9_0_2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supply and demand imbalance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a8294888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a8294888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in detail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Make separate slides explaining some of these boxes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Clarify each input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Replace aadt with vmt?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out demographic within optimization (double counting with 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8149f52d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8149f52d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a8294888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a8294888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in detail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Make separate slides explaining some of these boxes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Clarify each input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Replace aadt with vmt?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out demographic within optimization (double counting with 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8149f52d9_0_2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8149f52d9_0_2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b8229984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b8229984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supply and demand imbalance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853c542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853c542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normalized freq to percentage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853c5427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853c5427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853c5427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853c5427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853c5427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4853c5427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total pop chart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Percent of pop under 10yrs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How is it different than total pop?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853c5427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4853c5427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include total vmt graph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8149f52d9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8149f52d9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481e8f6f2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481e8f6f2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tennessee in the beginning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Reorganize the conclusion section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8149f52d9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8149f52d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8149f52d9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48149f52d9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1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D19888"/>
              </a:buClr>
              <a:buSzPts val="1800"/>
              <a:buNone/>
              <a:defRPr sz="1800">
                <a:solidFill>
                  <a:srgbClr val="D19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D19888"/>
              </a:buClr>
              <a:buSzPts val="1600"/>
              <a:buNone/>
              <a:defRPr sz="1600">
                <a:solidFill>
                  <a:srgbClr val="D19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D19888"/>
              </a:buClr>
              <a:buSzPts val="1400"/>
              <a:buNone/>
              <a:defRPr sz="1400">
                <a:solidFill>
                  <a:srgbClr val="D19888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682496"/>
            <a:ext cx="82296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D19888"/>
              </a:buClr>
              <a:buSzPts val="2800"/>
              <a:buNone/>
              <a:defRPr>
                <a:solidFill>
                  <a:srgbClr val="D19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D19888"/>
              </a:buClr>
              <a:buSzPts val="2400"/>
              <a:buNone/>
              <a:defRPr>
                <a:solidFill>
                  <a:srgbClr val="D19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82496"/>
            <a:ext cx="40386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648200" y="1682496"/>
            <a:ext cx="40386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20688" y="641510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575050" y="920884"/>
            <a:ext cx="51117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20688" y="1601629"/>
            <a:ext cx="3008400" cy="3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792288" y="3829050"/>
            <a:ext cx="54864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/>
          <p:nvPr>
            <p:ph idx="2" type="pic"/>
          </p:nvPr>
        </p:nvSpPr>
        <p:spPr>
          <a:xfrm>
            <a:off x="1792288" y="685800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1792288" y="4254817"/>
            <a:ext cx="54864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685800" y="1597343"/>
            <a:ext cx="7772400" cy="11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D19888"/>
              </a:buClr>
              <a:buSzPts val="2800"/>
              <a:buNone/>
              <a:defRPr>
                <a:solidFill>
                  <a:srgbClr val="D19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D19888"/>
              </a:buClr>
              <a:buSzPts val="2400"/>
              <a:buNone/>
              <a:defRPr>
                <a:solidFill>
                  <a:srgbClr val="D19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D19888"/>
              </a:buClr>
              <a:buSzPts val="2000"/>
              <a:buNone/>
              <a:defRPr>
                <a:solidFill>
                  <a:srgbClr val="D19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79972"/>
            <a:ext cx="82296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10"/>
          <p:cNvCxnSpPr/>
          <p:nvPr/>
        </p:nvCxnSpPr>
        <p:spPr>
          <a:xfrm>
            <a:off x="628650" y="3105150"/>
            <a:ext cx="5619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0"/>
          <p:cNvSpPr txBox="1"/>
          <p:nvPr/>
        </p:nvSpPr>
        <p:spPr>
          <a:xfrm>
            <a:off x="548640" y="4114800"/>
            <a:ext cx="788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lang="en" sz="1250">
                <a:solidFill>
                  <a:schemeClr val="lt1"/>
                </a:solidFill>
              </a:rPr>
              <a:t>Muhammad Ibrahim, Sarah Lee, Ammar </a:t>
            </a:r>
            <a:r>
              <a:rPr lang="en" sz="1250">
                <a:solidFill>
                  <a:schemeClr val="lt1"/>
                </a:solidFill>
              </a:rPr>
              <a:t>Mustafa</a:t>
            </a:r>
            <a:r>
              <a:rPr lang="en" sz="1250">
                <a:solidFill>
                  <a:schemeClr val="lt1"/>
                </a:solidFill>
              </a:rPr>
              <a:t>, Rohan Giri, Varsha Manju Jayakumar, John Hwang </a:t>
            </a:r>
            <a:endParaRPr b="0" i="0" sz="12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548640" y="457200"/>
            <a:ext cx="782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04/04/2025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02920" y="1200150"/>
            <a:ext cx="7886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3280">
                <a:solidFill>
                  <a:schemeClr val="lt1"/>
                </a:solidFill>
              </a:rPr>
              <a:t>General Motors</a:t>
            </a:r>
            <a:endParaRPr sz="328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580">
                <a:solidFill>
                  <a:srgbClr val="F6F5EC"/>
                </a:solidFill>
              </a:rPr>
              <a:t>McCombs School of Business </a:t>
            </a:r>
            <a:endParaRPr sz="2580">
              <a:solidFill>
                <a:srgbClr val="F6F5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580">
                <a:solidFill>
                  <a:srgbClr val="F6F5EC"/>
                </a:solidFill>
              </a:rPr>
              <a:t>University of Texas at Austin</a:t>
            </a:r>
            <a:endParaRPr sz="5500">
              <a:solidFill>
                <a:srgbClr val="F6F5E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" name="Google Shape;52;p10"/>
          <p:cNvSpPr txBox="1"/>
          <p:nvPr/>
        </p:nvSpPr>
        <p:spPr>
          <a:xfrm>
            <a:off x="548640" y="3333749"/>
            <a:ext cx="788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Capstone Team 8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8699" y="320040"/>
            <a:ext cx="1877396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2375" y="1234450"/>
            <a:ext cx="914401" cy="91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421150" y="1114325"/>
            <a:ext cx="8265900" cy="3635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marR="138793" rtl="0" algn="just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000000"/>
              </a:solidFill>
            </a:endParaRPr>
          </a:p>
          <a:p>
            <a:pPr indent="-190500" lvl="0" marL="228600" marR="138793" rtl="0" algn="just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</a:rPr>
              <a:t>With growing demand for EV</a:t>
            </a:r>
            <a:r>
              <a:rPr lang="en" sz="1200">
                <a:solidFill>
                  <a:srgbClr val="000000"/>
                </a:solidFill>
              </a:rPr>
              <a:t>, </a:t>
            </a:r>
            <a:r>
              <a:rPr lang="en" sz="1200">
                <a:solidFill>
                  <a:srgbClr val="000000"/>
                </a:solidFill>
              </a:rPr>
              <a:t>GM aims to strategy place a 100 DC fast charger infrastructure </a:t>
            </a:r>
            <a:endParaRPr sz="1200">
              <a:solidFill>
                <a:srgbClr val="000000"/>
              </a:solidFill>
            </a:endParaRPr>
          </a:p>
          <a:p>
            <a:pPr indent="-190500" lvl="0" marL="228600" marR="13879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</a:rPr>
              <a:t>EV market in the US is growing at circa 10%, with GM market share as second largest at 16.5%</a:t>
            </a:r>
            <a:endParaRPr sz="1200">
              <a:solidFill>
                <a:srgbClr val="000000"/>
              </a:solidFill>
            </a:endParaRPr>
          </a:p>
          <a:p>
            <a:pPr indent="-190500" lvl="0" marL="228600" marR="13879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</a:rPr>
              <a:t>Tennessee</a:t>
            </a:r>
            <a:r>
              <a:rPr lang="en" sz="1200">
                <a:solidFill>
                  <a:srgbClr val="000000"/>
                </a:solidFill>
              </a:rPr>
              <a:t> is a prime market to deploy and test this </a:t>
            </a:r>
            <a:r>
              <a:rPr lang="en" sz="1200">
                <a:solidFill>
                  <a:srgbClr val="000000"/>
                </a:solidFill>
              </a:rPr>
              <a:t>framework, that can be conveniently scaled to other states</a:t>
            </a:r>
            <a:endParaRPr sz="1200">
              <a:solidFill>
                <a:srgbClr val="000000"/>
              </a:solidFill>
            </a:endParaRPr>
          </a:p>
          <a:p>
            <a:pPr indent="-190500" lvl="0" marL="228600" marR="13879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</a:rPr>
              <a:t>Our charger placement algorithm, fulfills 52.6% of the overall estimated state demand for 2028 by placing chargers in 74 zip locations</a:t>
            </a:r>
            <a:endParaRPr sz="1200">
              <a:solidFill>
                <a:srgbClr val="000000"/>
              </a:solidFill>
            </a:endParaRPr>
          </a:p>
          <a:p>
            <a:pPr indent="-190500" lvl="0" marL="228600" marR="13879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</a:rPr>
              <a:t>Insights show significant impact of demographic factors such as income, family structure, wfh and commute times on ev car sales</a:t>
            </a:r>
            <a:endParaRPr sz="1200">
              <a:solidFill>
                <a:srgbClr val="000000"/>
              </a:solidFill>
            </a:endParaRPr>
          </a:p>
          <a:p>
            <a:pPr indent="-190500" lvl="0" marL="228600" marR="13879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</a:rPr>
              <a:t>GM implementation can be done based on location prioritization provided through algorithms, and </a:t>
            </a:r>
            <a:r>
              <a:rPr lang="en" sz="1200">
                <a:solidFill>
                  <a:srgbClr val="000000"/>
                </a:solidFill>
              </a:rPr>
              <a:t>scalability</a:t>
            </a:r>
            <a:r>
              <a:rPr lang="en" sz="1200">
                <a:solidFill>
                  <a:srgbClr val="000000"/>
                </a:solidFill>
              </a:rPr>
              <a:t> through framework</a:t>
            </a:r>
            <a:endParaRPr sz="1200">
              <a:solidFill>
                <a:srgbClr val="000000"/>
              </a:solidFill>
            </a:endParaRPr>
          </a:p>
          <a:p>
            <a:pPr indent="-57150" lvl="0" marL="171450" marR="138793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61" name="Google Shape;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425" y="75575"/>
            <a:ext cx="275348" cy="27534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1"/>
          <p:cNvSpPr txBox="1"/>
          <p:nvPr>
            <p:ph type="title"/>
          </p:nvPr>
        </p:nvSpPr>
        <p:spPr>
          <a:xfrm>
            <a:off x="311700" y="44627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Executive Summary</a:t>
            </a:r>
            <a:endParaRPr b="1"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412" y="2809700"/>
            <a:ext cx="3769801" cy="2120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14900" y="2942722"/>
            <a:ext cx="4394100" cy="172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</a:rPr>
              <a:t>Business </a:t>
            </a:r>
            <a:r>
              <a:rPr b="1" lang="en" sz="1200">
                <a:solidFill>
                  <a:srgbClr val="222222"/>
                </a:solidFill>
              </a:rPr>
              <a:t>Opportunity</a:t>
            </a:r>
            <a:endParaRPr b="1"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Drive </a:t>
            </a:r>
            <a:r>
              <a:rPr b="1" lang="en" sz="1200">
                <a:solidFill>
                  <a:srgbClr val="222222"/>
                </a:solidFill>
              </a:rPr>
              <a:t>GM EV sales</a:t>
            </a:r>
            <a:r>
              <a:rPr lang="en" sz="1200">
                <a:solidFill>
                  <a:srgbClr val="222222"/>
                </a:solidFill>
              </a:rPr>
              <a:t> by addressing both current and forecasted gaps in public charging infrastructure.</a:t>
            </a:r>
            <a:endParaRPr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Support equitable </a:t>
            </a:r>
            <a:r>
              <a:rPr b="1" lang="en" sz="1200">
                <a:solidFill>
                  <a:srgbClr val="222222"/>
                </a:solidFill>
              </a:rPr>
              <a:t>EV adoption</a:t>
            </a:r>
            <a:r>
              <a:rPr lang="en" sz="1200">
                <a:solidFill>
                  <a:srgbClr val="222222"/>
                </a:solidFill>
              </a:rPr>
              <a:t> by expanding access across diverse regions</a:t>
            </a:r>
            <a:endParaRPr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Advance </a:t>
            </a:r>
            <a:r>
              <a:rPr b="1" lang="en" sz="1200">
                <a:solidFill>
                  <a:srgbClr val="222222"/>
                </a:solidFill>
              </a:rPr>
              <a:t>GM’s zero-zero-zero vision</a:t>
            </a:r>
            <a:endParaRPr b="1" sz="1200">
              <a:solidFill>
                <a:srgbClr val="222222"/>
              </a:solidFill>
            </a:endParaRPr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3149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Problem Statement</a:t>
            </a:r>
            <a:endParaRPr b="1" sz="2500"/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314900" y="1017725"/>
            <a:ext cx="8435700" cy="238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</a:rPr>
              <a:t>Strategically identify where to place 100 new DC fast chargers within a target state to drive EV adoption, meet demand, find insights and support long-term growth in the EV market.</a:t>
            </a:r>
            <a:endParaRPr sz="12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22222"/>
                </a:solidFill>
              </a:rPr>
              <a:t>State of Choice: Tennessee</a:t>
            </a:r>
            <a:endParaRPr b="1"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Home to GM’s largest EV facility in Spring Hills, TN </a:t>
            </a:r>
            <a:endParaRPr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7.2M residents across 3 major cities </a:t>
            </a:r>
            <a:endParaRPr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Above median (29.9%) EV adoption rate </a:t>
            </a:r>
            <a:endParaRPr sz="1200">
              <a:solidFill>
                <a:srgbClr val="22222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Char char="•"/>
            </a:pPr>
            <a:r>
              <a:rPr lang="en" sz="1200">
                <a:solidFill>
                  <a:srgbClr val="222222"/>
                </a:solidFill>
              </a:rPr>
              <a:t>$88M in federal EV infrastructure funding </a:t>
            </a:r>
            <a:r>
              <a:rPr lang="en" sz="1200">
                <a:solidFill>
                  <a:srgbClr val="222222"/>
                </a:solidFill>
              </a:rPr>
              <a:t>through the BEAD program</a:t>
            </a:r>
            <a:endParaRPr sz="12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685800" y="2020494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Exploratory Data Analysis</a:t>
            </a:r>
            <a:endParaRPr b="1" sz="3500"/>
          </a:p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14"/>
          <p:cNvPicPr preferRelativeResize="0"/>
          <p:nvPr/>
        </p:nvPicPr>
        <p:blipFill rotWithShape="1">
          <a:blip r:embed="rId3">
            <a:alphaModFix/>
          </a:blip>
          <a:srcRect b="3128" l="0" r="0" t="0"/>
          <a:stretch/>
        </p:blipFill>
        <p:spPr>
          <a:xfrm>
            <a:off x="252875" y="1204750"/>
            <a:ext cx="3479450" cy="32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GM Market Share &amp; </a:t>
            </a:r>
            <a:r>
              <a:rPr b="1" lang="en" sz="2500"/>
              <a:t>EV Car Sales</a:t>
            </a:r>
            <a:endParaRPr b="1" sz="2500"/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4275" y="1447475"/>
            <a:ext cx="5106875" cy="2926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020494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Approach &amp; Methodology</a:t>
            </a:r>
            <a:endParaRPr b="1" sz="3500"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351400" y="1021600"/>
            <a:ext cx="51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76000" y="1275213"/>
            <a:ext cx="1532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Data Sources</a:t>
            </a:r>
            <a:r>
              <a:rPr lang="en" sz="1000">
                <a:solidFill>
                  <a:schemeClr val="lt2"/>
                </a:solidFill>
              </a:rPr>
              <a:t> </a:t>
            </a:r>
            <a:br>
              <a:rPr lang="en" sz="1000">
                <a:solidFill>
                  <a:schemeClr val="lt2"/>
                </a:solidFill>
              </a:rPr>
            </a:br>
            <a:endParaRPr sz="1000">
              <a:solidFill>
                <a:schemeClr val="lt2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3099625" y="1682425"/>
            <a:ext cx="2255700" cy="1812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lt2"/>
                </a:solidFill>
              </a:rPr>
              <a:t>EV Registrations forecast 2028</a:t>
            </a:r>
            <a:endParaRPr sz="900" u="sng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2"/>
                </a:solidFill>
              </a:rPr>
              <a:t>Data:</a:t>
            </a:r>
            <a:r>
              <a:rPr lang="en" sz="900">
                <a:solidFill>
                  <a:schemeClr val="lt2"/>
                </a:solidFill>
              </a:rPr>
              <a:t> </a:t>
            </a:r>
            <a:br>
              <a:rPr lang="en" sz="900">
                <a:solidFill>
                  <a:schemeClr val="lt2"/>
                </a:solidFill>
              </a:rPr>
            </a:br>
            <a:r>
              <a:rPr lang="en" sz="900">
                <a:solidFill>
                  <a:schemeClr val="lt2"/>
                </a:solidFill>
              </a:rPr>
              <a:t>ZCTA</a:t>
            </a:r>
            <a:r>
              <a:rPr lang="en" sz="900">
                <a:solidFill>
                  <a:schemeClr val="lt2"/>
                </a:solidFill>
              </a:rPr>
              <a:t>, Year, Features…, EV Sum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2"/>
                </a:solidFill>
              </a:rPr>
              <a:t>Extrapolation:</a:t>
            </a:r>
            <a:endParaRPr b="1"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Linear on all features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2"/>
                </a:solidFill>
              </a:rPr>
              <a:t>Model:</a:t>
            </a:r>
            <a:endParaRPr b="1"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Random forest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Best model chosen on Train(2020-2023) Test(2024)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Best model re-trained on (2020-2024)</a:t>
            </a:r>
            <a:br>
              <a:rPr lang="en" sz="900">
                <a:solidFill>
                  <a:schemeClr val="lt2"/>
                </a:solidFill>
              </a:rPr>
            </a:br>
            <a:r>
              <a:rPr lang="en" sz="900">
                <a:solidFill>
                  <a:schemeClr val="lt2"/>
                </a:solidFill>
              </a:rPr>
              <a:t>Test (2025-2028)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099625" y="3817750"/>
            <a:ext cx="22557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Charging Capacity &amp; Charging Demand 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824675" y="1682425"/>
            <a:ext cx="18684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Charging Demand Gap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5824675" y="2169850"/>
            <a:ext cx="18684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Profits from Charger Use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824675" y="3632125"/>
            <a:ext cx="1868400" cy="34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Sparsity Control (Optional)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824675" y="2657275"/>
            <a:ext cx="1868400" cy="340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Traffic Score 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824675" y="3144700"/>
            <a:ext cx="1868400" cy="340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Business Density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 rot="5400000">
            <a:off x="7611125" y="2888000"/>
            <a:ext cx="24423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Normalize to same scale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107" name="Google Shape;107;p1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Project</a:t>
            </a:r>
            <a:r>
              <a:rPr b="1" lang="en" sz="2500"/>
              <a:t> Workflow - Part 1: Data</a:t>
            </a:r>
            <a:endParaRPr b="1" sz="2500"/>
          </a:p>
        </p:txBody>
      </p:sp>
      <p:sp>
        <p:nvSpPr>
          <p:cNvPr id="108" name="Google Shape;108;p16"/>
          <p:cNvSpPr/>
          <p:nvPr/>
        </p:nvSpPr>
        <p:spPr>
          <a:xfrm>
            <a:off x="372000" y="2133375"/>
            <a:ext cx="1904400" cy="340500"/>
          </a:xfrm>
          <a:prstGeom prst="parallelogram">
            <a:avLst>
              <a:gd fmla="val 57893" name="adj"/>
            </a:avLst>
          </a:prstGeom>
          <a:solidFill>
            <a:srgbClr val="F3F3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Registrations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/>
              <a:t>Source:</a:t>
            </a:r>
            <a:r>
              <a:rPr lang="en" sz="900"/>
              <a:t> GM</a:t>
            </a:r>
            <a:endParaRPr sz="900"/>
          </a:p>
        </p:txBody>
      </p:sp>
      <p:sp>
        <p:nvSpPr>
          <p:cNvPr id="109" name="Google Shape;109;p16"/>
          <p:cNvSpPr/>
          <p:nvPr/>
        </p:nvSpPr>
        <p:spPr>
          <a:xfrm>
            <a:off x="372150" y="3371850"/>
            <a:ext cx="1868400" cy="340500"/>
          </a:xfrm>
          <a:prstGeom prst="parallelogram">
            <a:avLst>
              <a:gd fmla="val 57893" name="adj"/>
            </a:avLst>
          </a:prstGeom>
          <a:solidFill>
            <a:srgbClr val="D0E0E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Traffic Data 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/>
              <a:t>Source:</a:t>
            </a:r>
            <a:r>
              <a:rPr lang="en" sz="900"/>
              <a:t> Tennessee gov</a:t>
            </a:r>
            <a:r>
              <a:rPr lang="en" sz="900"/>
              <a:t> </a:t>
            </a:r>
            <a:endParaRPr sz="900"/>
          </a:p>
        </p:txBody>
      </p:sp>
      <p:sp>
        <p:nvSpPr>
          <p:cNvPr id="110" name="Google Shape;110;p16"/>
          <p:cNvSpPr/>
          <p:nvPr/>
        </p:nvSpPr>
        <p:spPr>
          <a:xfrm>
            <a:off x="372150" y="3784675"/>
            <a:ext cx="1868400" cy="340500"/>
          </a:xfrm>
          <a:prstGeom prst="parallelogram">
            <a:avLst>
              <a:gd fmla="val 57893" name="adj"/>
            </a:avLst>
          </a:prstGeom>
          <a:solidFill>
            <a:srgbClr val="D0E0E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Business Points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/>
              <a:t>Source:</a:t>
            </a:r>
            <a:r>
              <a:rPr lang="en" sz="900"/>
              <a:t> Google Maps</a:t>
            </a:r>
            <a:endParaRPr sz="900"/>
          </a:p>
        </p:txBody>
      </p:sp>
      <p:sp>
        <p:nvSpPr>
          <p:cNvPr id="111" name="Google Shape;111;p16"/>
          <p:cNvSpPr/>
          <p:nvPr/>
        </p:nvSpPr>
        <p:spPr>
          <a:xfrm>
            <a:off x="372150" y="2546200"/>
            <a:ext cx="1868400" cy="340500"/>
          </a:xfrm>
          <a:prstGeom prst="parallelogram">
            <a:avLst>
              <a:gd fmla="val 57893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EV Charging Network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/>
              <a:t>Source:</a:t>
            </a:r>
            <a:r>
              <a:rPr lang="en" sz="900"/>
              <a:t> energy.gov </a:t>
            </a:r>
            <a:endParaRPr sz="900"/>
          </a:p>
        </p:txBody>
      </p:sp>
      <p:sp>
        <p:nvSpPr>
          <p:cNvPr id="112" name="Google Shape;112;p16"/>
          <p:cNvSpPr/>
          <p:nvPr/>
        </p:nvSpPr>
        <p:spPr>
          <a:xfrm>
            <a:off x="372000" y="1720550"/>
            <a:ext cx="1960500" cy="340500"/>
          </a:xfrm>
          <a:prstGeom prst="parallelogram">
            <a:avLst>
              <a:gd fmla="val 57893" name="adj"/>
            </a:avLst>
          </a:prstGeom>
          <a:solidFill>
            <a:srgbClr val="F3F3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Demographics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/>
              <a:t>Source:</a:t>
            </a:r>
            <a:r>
              <a:rPr lang="en" sz="900"/>
              <a:t> census.gov</a:t>
            </a:r>
            <a:endParaRPr sz="900"/>
          </a:p>
        </p:txBody>
      </p:sp>
      <p:sp>
        <p:nvSpPr>
          <p:cNvPr id="113" name="Google Shape;113;p16"/>
          <p:cNvSpPr txBox="1"/>
          <p:nvPr/>
        </p:nvSpPr>
        <p:spPr>
          <a:xfrm>
            <a:off x="3394075" y="1275225"/>
            <a:ext cx="1666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Feature Engineering - 1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372150" y="2959025"/>
            <a:ext cx="1904400" cy="340500"/>
          </a:xfrm>
          <a:prstGeom prst="parallelogram">
            <a:avLst>
              <a:gd fmla="val 57893" name="adj"/>
            </a:avLst>
          </a:prstGeom>
          <a:solidFill>
            <a:srgbClr val="CFE2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Market Averages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/>
              <a:t>Source:</a:t>
            </a:r>
            <a:r>
              <a:rPr lang="en" sz="900"/>
              <a:t> Public reports </a:t>
            </a:r>
            <a:endParaRPr sz="900"/>
          </a:p>
        </p:txBody>
      </p:sp>
      <p:cxnSp>
        <p:nvCxnSpPr>
          <p:cNvPr id="115" name="Google Shape;115;p16"/>
          <p:cNvCxnSpPr>
            <a:stCxn id="112" idx="2"/>
            <a:endCxn id="99" idx="1"/>
          </p:cNvCxnSpPr>
          <p:nvPr/>
        </p:nvCxnSpPr>
        <p:spPr>
          <a:xfrm>
            <a:off x="2233937" y="1890800"/>
            <a:ext cx="865800" cy="697800"/>
          </a:xfrm>
          <a:prstGeom prst="bentConnector3">
            <a:avLst>
              <a:gd fmla="val 55686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6"/>
          <p:cNvCxnSpPr>
            <a:stCxn id="108" idx="2"/>
            <a:endCxn id="99" idx="1"/>
          </p:cNvCxnSpPr>
          <p:nvPr/>
        </p:nvCxnSpPr>
        <p:spPr>
          <a:xfrm>
            <a:off x="2177837" y="2303625"/>
            <a:ext cx="921900" cy="285000"/>
          </a:xfrm>
          <a:prstGeom prst="bentConnector3">
            <a:avLst>
              <a:gd fmla="val 36030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6"/>
          <p:cNvCxnSpPr>
            <a:stCxn id="111" idx="2"/>
            <a:endCxn id="100" idx="1"/>
          </p:cNvCxnSpPr>
          <p:nvPr/>
        </p:nvCxnSpPr>
        <p:spPr>
          <a:xfrm>
            <a:off x="2141987" y="2716450"/>
            <a:ext cx="957600" cy="1271700"/>
          </a:xfrm>
          <a:prstGeom prst="bentConnector3">
            <a:avLst>
              <a:gd fmla="val 59690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6"/>
          <p:cNvCxnSpPr>
            <a:stCxn id="99" idx="2"/>
            <a:endCxn id="100" idx="1"/>
          </p:cNvCxnSpPr>
          <p:nvPr/>
        </p:nvCxnSpPr>
        <p:spPr>
          <a:xfrm rot="5400000">
            <a:off x="3417025" y="3177475"/>
            <a:ext cx="493200" cy="1127700"/>
          </a:xfrm>
          <a:prstGeom prst="bentConnector4">
            <a:avLst>
              <a:gd fmla="val 32748" name="adj1"/>
              <a:gd fmla="val 121129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6"/>
          <p:cNvCxnSpPr>
            <a:stCxn id="114" idx="2"/>
            <a:endCxn id="100" idx="1"/>
          </p:cNvCxnSpPr>
          <p:nvPr/>
        </p:nvCxnSpPr>
        <p:spPr>
          <a:xfrm>
            <a:off x="2177987" y="3129275"/>
            <a:ext cx="921600" cy="858600"/>
          </a:xfrm>
          <a:prstGeom prst="bentConnector3">
            <a:avLst>
              <a:gd fmla="val 36026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0" name="Google Shape;120;p16"/>
          <p:cNvGrpSpPr/>
          <p:nvPr/>
        </p:nvGrpSpPr>
        <p:grpSpPr>
          <a:xfrm>
            <a:off x="7858700" y="1682425"/>
            <a:ext cx="340500" cy="340500"/>
            <a:chOff x="7706300" y="1530025"/>
            <a:chExt cx="340500" cy="340500"/>
          </a:xfrm>
        </p:grpSpPr>
        <p:sp>
          <p:nvSpPr>
            <p:cNvPr id="121" name="Google Shape;121;p16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w1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7858700" y="2169850"/>
            <a:ext cx="340500" cy="340500"/>
            <a:chOff x="7706300" y="1530025"/>
            <a:chExt cx="340500" cy="340500"/>
          </a:xfrm>
        </p:grpSpPr>
        <p:sp>
          <p:nvSpPr>
            <p:cNvPr id="124" name="Google Shape;124;p16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w2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7858700" y="2657275"/>
            <a:ext cx="340500" cy="340500"/>
            <a:chOff x="7706300" y="1530025"/>
            <a:chExt cx="340500" cy="340500"/>
          </a:xfrm>
        </p:grpSpPr>
        <p:sp>
          <p:nvSpPr>
            <p:cNvPr id="127" name="Google Shape;127;p16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w3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7858700" y="3144700"/>
            <a:ext cx="340500" cy="340500"/>
            <a:chOff x="7706300" y="1530025"/>
            <a:chExt cx="340500" cy="340500"/>
          </a:xfrm>
        </p:grpSpPr>
        <p:sp>
          <p:nvSpPr>
            <p:cNvPr id="130" name="Google Shape;130;p16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w4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7858700" y="3632125"/>
            <a:ext cx="340500" cy="340500"/>
            <a:chOff x="7706300" y="1530025"/>
            <a:chExt cx="340500" cy="340500"/>
          </a:xfrm>
        </p:grpSpPr>
        <p:sp>
          <p:nvSpPr>
            <p:cNvPr id="133" name="Google Shape;133;p16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w5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sp>
        <p:nvSpPr>
          <p:cNvPr id="135" name="Google Shape;135;p16"/>
          <p:cNvSpPr txBox="1"/>
          <p:nvPr/>
        </p:nvSpPr>
        <p:spPr>
          <a:xfrm>
            <a:off x="6346550" y="1275225"/>
            <a:ext cx="1666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Feature Engineering - 2</a:t>
            </a:r>
            <a:endParaRPr sz="1000">
              <a:solidFill>
                <a:schemeClr val="lt2"/>
              </a:solidFill>
            </a:endParaRPr>
          </a:p>
        </p:txBody>
      </p:sp>
      <p:cxnSp>
        <p:nvCxnSpPr>
          <p:cNvPr id="136" name="Google Shape;136;p16"/>
          <p:cNvCxnSpPr>
            <a:stCxn id="100" idx="2"/>
            <a:endCxn id="137" idx="0"/>
          </p:cNvCxnSpPr>
          <p:nvPr/>
        </p:nvCxnSpPr>
        <p:spPr>
          <a:xfrm flipH="1" rot="-5400000">
            <a:off x="4122475" y="4263250"/>
            <a:ext cx="210600" cy="600"/>
          </a:xfrm>
          <a:prstGeom prst="bentConnector3">
            <a:avLst>
              <a:gd fmla="val 49973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6"/>
          <p:cNvSpPr txBox="1"/>
          <p:nvPr/>
        </p:nvSpPr>
        <p:spPr>
          <a:xfrm>
            <a:off x="3293275" y="4368738"/>
            <a:ext cx="18684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Charging Demand Gap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245750" y="4368750"/>
            <a:ext cx="1868400" cy="3405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Composite Score</a:t>
            </a:r>
            <a:endParaRPr sz="900">
              <a:solidFill>
                <a:schemeClr val="lt2"/>
              </a:solidFill>
            </a:endParaRPr>
          </a:p>
        </p:txBody>
      </p:sp>
      <p:cxnSp>
        <p:nvCxnSpPr>
          <p:cNvPr id="139" name="Google Shape;139;p16"/>
          <p:cNvCxnSpPr>
            <a:stCxn id="122" idx="1"/>
            <a:endCxn id="122" idx="1"/>
          </p:cNvCxnSpPr>
          <p:nvPr/>
        </p:nvCxnSpPr>
        <p:spPr>
          <a:xfrm>
            <a:off x="7866200" y="18526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01" idx="3"/>
            <a:endCxn id="122" idx="1"/>
          </p:cNvCxnSpPr>
          <p:nvPr/>
        </p:nvCxnSpPr>
        <p:spPr>
          <a:xfrm>
            <a:off x="7693075" y="185267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02" idx="3"/>
            <a:endCxn id="125" idx="1"/>
          </p:cNvCxnSpPr>
          <p:nvPr/>
        </p:nvCxnSpPr>
        <p:spPr>
          <a:xfrm>
            <a:off x="7693075" y="2340100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6"/>
          <p:cNvCxnSpPr>
            <a:stCxn id="104" idx="3"/>
            <a:endCxn id="128" idx="1"/>
          </p:cNvCxnSpPr>
          <p:nvPr/>
        </p:nvCxnSpPr>
        <p:spPr>
          <a:xfrm>
            <a:off x="7693075" y="282752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05" idx="3"/>
            <a:endCxn id="131" idx="1"/>
          </p:cNvCxnSpPr>
          <p:nvPr/>
        </p:nvCxnSpPr>
        <p:spPr>
          <a:xfrm>
            <a:off x="7693075" y="3314950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6"/>
          <p:cNvCxnSpPr>
            <a:stCxn id="103" idx="3"/>
            <a:endCxn id="134" idx="1"/>
          </p:cNvCxnSpPr>
          <p:nvPr/>
        </p:nvCxnSpPr>
        <p:spPr>
          <a:xfrm>
            <a:off x="7693075" y="380237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22" idx="3"/>
            <a:endCxn id="138" idx="0"/>
          </p:cNvCxnSpPr>
          <p:nvPr/>
        </p:nvCxnSpPr>
        <p:spPr>
          <a:xfrm flipH="1">
            <a:off x="7180100" y="1852675"/>
            <a:ext cx="1011600" cy="2516100"/>
          </a:xfrm>
          <a:prstGeom prst="bentConnector4">
            <a:avLst>
              <a:gd fmla="val -49938" name="adj1"/>
              <a:gd fmla="val 90808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6"/>
          <p:cNvCxnSpPr>
            <a:stCxn id="125" idx="3"/>
            <a:endCxn id="138" idx="0"/>
          </p:cNvCxnSpPr>
          <p:nvPr/>
        </p:nvCxnSpPr>
        <p:spPr>
          <a:xfrm flipH="1">
            <a:off x="7180100" y="2340100"/>
            <a:ext cx="1011600" cy="2028600"/>
          </a:xfrm>
          <a:prstGeom prst="bentConnector4">
            <a:avLst>
              <a:gd fmla="val -49938" name="adj1"/>
              <a:gd fmla="val 88603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6"/>
          <p:cNvCxnSpPr>
            <a:stCxn id="128" idx="3"/>
            <a:endCxn id="138" idx="0"/>
          </p:cNvCxnSpPr>
          <p:nvPr/>
        </p:nvCxnSpPr>
        <p:spPr>
          <a:xfrm flipH="1">
            <a:off x="7180100" y="2827525"/>
            <a:ext cx="1011600" cy="1541100"/>
          </a:xfrm>
          <a:prstGeom prst="bentConnector4">
            <a:avLst>
              <a:gd fmla="val -49938" name="adj1"/>
              <a:gd fmla="val 85003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6"/>
          <p:cNvCxnSpPr>
            <a:stCxn id="131" idx="3"/>
            <a:endCxn id="138" idx="0"/>
          </p:cNvCxnSpPr>
          <p:nvPr/>
        </p:nvCxnSpPr>
        <p:spPr>
          <a:xfrm flipH="1">
            <a:off x="7180100" y="3314950"/>
            <a:ext cx="1011600" cy="1053900"/>
          </a:xfrm>
          <a:prstGeom prst="bentConnector4">
            <a:avLst>
              <a:gd fmla="val -49938" name="adj1"/>
              <a:gd fmla="val 77384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6"/>
          <p:cNvCxnSpPr>
            <a:stCxn id="134" idx="3"/>
            <a:endCxn id="138" idx="0"/>
          </p:cNvCxnSpPr>
          <p:nvPr/>
        </p:nvCxnSpPr>
        <p:spPr>
          <a:xfrm flipH="1">
            <a:off x="7180100" y="3802375"/>
            <a:ext cx="1011600" cy="566400"/>
          </a:xfrm>
          <a:prstGeom prst="bentConnector4">
            <a:avLst>
              <a:gd fmla="val -49938" name="adj1"/>
              <a:gd fmla="val 58669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311700" y="1017725"/>
            <a:ext cx="8520600" cy="399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- </a:t>
            </a:r>
            <a:r>
              <a:rPr lang="en" sz="1500"/>
              <a:t>Charging Demand Gap: Charging Demand - Charging Capacity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100"/>
              <a:t>	Charging Demand =  EV_Cars_2028 * Avg_miles_driven_per_car * perc_charged_in_public</a:t>
            </a:r>
            <a:br>
              <a:rPr lang="en" sz="1100"/>
            </a:br>
            <a:r>
              <a:rPr i="1" lang="en" sz="1000"/>
              <a:t>				Count_per_zipcode * 42.4 * 36.8%</a:t>
            </a:r>
            <a:endParaRPr i="1" sz="10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br>
              <a:rPr i="1" lang="en" sz="1000"/>
            </a:br>
            <a:r>
              <a:rPr i="1" lang="en" sz="1000"/>
              <a:t>				</a:t>
            </a:r>
            <a:endParaRPr i="1" sz="10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lang="en" sz="1100"/>
              <a:t>	Charging Capacity = ((DC_chrgr_cnt * Avg_range_per_hour) + (L2_chrgr_cnt * Avg_range_per_hour)) * hours_in_operation</a:t>
            </a:r>
            <a:br>
              <a:rPr lang="en" sz="1100"/>
            </a:br>
            <a:r>
              <a:rPr lang="en" sz="1100"/>
              <a:t>				</a:t>
            </a:r>
            <a:r>
              <a:rPr lang="en" sz="1000"/>
              <a:t>(</a:t>
            </a:r>
            <a:r>
              <a:rPr i="1" lang="en" sz="1000"/>
              <a:t>DC_c</a:t>
            </a:r>
            <a:r>
              <a:rPr i="1" lang="en" sz="1000"/>
              <a:t>ount_per_zipcode * 180) + </a:t>
            </a:r>
            <a:r>
              <a:rPr lang="en" sz="1000"/>
              <a:t>(</a:t>
            </a:r>
            <a:r>
              <a:rPr i="1" lang="en" sz="1000"/>
              <a:t>L2_count_per_zipcode * 25) * 14 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- Profits from charger use: </a:t>
            </a:r>
            <a:br>
              <a:rPr lang="en" sz="1500"/>
            </a:br>
            <a:r>
              <a:rPr lang="en" sz="1500"/>
              <a:t>	</a:t>
            </a:r>
            <a:r>
              <a:rPr lang="en" sz="1100"/>
              <a:t>DC_capacity_per_charger * sell_price_per_mile - (DC_capacity_per_charger * cost_price_per_mile + rent_per_charger/day)</a:t>
            </a:r>
            <a:br>
              <a:rPr lang="en" sz="1100"/>
            </a:br>
            <a:r>
              <a:rPr lang="en" sz="1100"/>
              <a:t>	</a:t>
            </a:r>
            <a:r>
              <a:rPr i="1" lang="en" sz="1000"/>
              <a:t>DC_count_per_zipcode * 180 * $0.14 - (L2_count_per_zipcode * 25 * $0.04 + rent_per_zipcode_classification)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- Sparsity control (optional, kept at 0 weight for our solution):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100"/>
              <a:t>	(Feature1_std * Weight of Coeff 1) + (Feature2_std * Weight of Coeff 2) + …… + (FeatureN_std * Weight of Coeff N)</a:t>
            </a:r>
            <a:br>
              <a:rPr lang="en" sz="1100"/>
            </a:br>
            <a:r>
              <a:rPr lang="en" sz="1100"/>
              <a:t>	</a:t>
            </a:r>
            <a:r>
              <a:rPr i="1" lang="en" sz="1000"/>
              <a:t>// Features selected by running regression analysis on ev car sales with demographic factors, keeping only statistically </a:t>
            </a:r>
            <a:r>
              <a:rPr i="1" lang="en" sz="1000"/>
              <a:t>significant</a:t>
            </a:r>
            <a:r>
              <a:rPr i="1" lang="en" sz="1000"/>
              <a:t> ones</a:t>
            </a:r>
            <a:endParaRPr i="1" sz="10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- Traffic Data (VMT; Vehicle Miles Travelled):</a:t>
            </a:r>
            <a:r>
              <a:rPr lang="en" sz="1000"/>
              <a:t> </a:t>
            </a:r>
            <a:endParaRPr sz="1000"/>
          </a:p>
          <a:p>
            <a:pPr indent="4572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100"/>
              <a:t>Annual sum of miles traveled by all vehicles within a zip code</a:t>
            </a:r>
            <a:endParaRPr sz="1100"/>
          </a:p>
        </p:txBody>
      </p:sp>
      <p:sp>
        <p:nvSpPr>
          <p:cNvPr id="155" name="Google Shape;15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Metric Calculations</a:t>
            </a:r>
            <a:endParaRPr b="1" sz="2500"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-1628" r="-2095" t="0"/>
          <a:stretch/>
        </p:blipFill>
        <p:spPr>
          <a:xfrm>
            <a:off x="873125" y="1675425"/>
            <a:ext cx="3970701" cy="9801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3656200" y="1021600"/>
            <a:ext cx="51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6000" y="1233388"/>
            <a:ext cx="1532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Data Sources</a:t>
            </a:r>
            <a:r>
              <a:rPr lang="en" sz="1000">
                <a:solidFill>
                  <a:schemeClr val="lt2"/>
                </a:solidFill>
              </a:rPr>
              <a:t> </a:t>
            </a:r>
            <a:br>
              <a:rPr lang="en" sz="1000">
                <a:solidFill>
                  <a:schemeClr val="lt2"/>
                </a:solidFill>
              </a:rPr>
            </a:br>
            <a:endParaRPr sz="1000">
              <a:solidFill>
                <a:schemeClr val="lt2"/>
              </a:solidFill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32775" y="1682425"/>
            <a:ext cx="18684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Charging Demand Gap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332775" y="2169850"/>
            <a:ext cx="18684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Profits from Charger Use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32775" y="3632125"/>
            <a:ext cx="1868400" cy="34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Sparsity Control (Optional)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332775" y="2657275"/>
            <a:ext cx="1868400" cy="340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Traffic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32775" y="3144700"/>
            <a:ext cx="1868400" cy="340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Business Density Score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 rot="5400000">
            <a:off x="1862775" y="2883300"/>
            <a:ext cx="24423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</a:rPr>
              <a:t>Normalize to same scale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170" name="Google Shape;170;p1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Project Workflow - Part 2: Charger Placement</a:t>
            </a:r>
            <a:endParaRPr b="1" sz="2500"/>
          </a:p>
        </p:txBody>
      </p:sp>
      <p:sp>
        <p:nvSpPr>
          <p:cNvPr id="171" name="Google Shape;171;p18"/>
          <p:cNvSpPr txBox="1"/>
          <p:nvPr/>
        </p:nvSpPr>
        <p:spPr>
          <a:xfrm>
            <a:off x="3879075" y="1275225"/>
            <a:ext cx="1666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1. </a:t>
            </a:r>
            <a:r>
              <a:rPr b="1" lang="en" sz="1000">
                <a:solidFill>
                  <a:schemeClr val="lt2"/>
                </a:solidFill>
              </a:rPr>
              <a:t>Greedy Algorithm</a:t>
            </a:r>
            <a:endParaRPr sz="1000">
              <a:solidFill>
                <a:schemeClr val="lt2"/>
              </a:solidFill>
            </a:endParaRPr>
          </a:p>
        </p:txBody>
      </p:sp>
      <p:grpSp>
        <p:nvGrpSpPr>
          <p:cNvPr id="172" name="Google Shape;172;p18"/>
          <p:cNvGrpSpPr/>
          <p:nvPr/>
        </p:nvGrpSpPr>
        <p:grpSpPr>
          <a:xfrm>
            <a:off x="2366800" y="1682425"/>
            <a:ext cx="340500" cy="340500"/>
            <a:chOff x="7706300" y="1530025"/>
            <a:chExt cx="340500" cy="340500"/>
          </a:xfrm>
        </p:grpSpPr>
        <p:sp>
          <p:nvSpPr>
            <p:cNvPr id="173" name="Google Shape;173;p18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w1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2366800" y="2169850"/>
            <a:ext cx="340500" cy="340500"/>
            <a:chOff x="7706300" y="1530025"/>
            <a:chExt cx="340500" cy="340500"/>
          </a:xfrm>
        </p:grpSpPr>
        <p:sp>
          <p:nvSpPr>
            <p:cNvPr id="176" name="Google Shape;176;p18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w2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2366800" y="2657275"/>
            <a:ext cx="340500" cy="340500"/>
            <a:chOff x="7706300" y="1530025"/>
            <a:chExt cx="340500" cy="340500"/>
          </a:xfrm>
        </p:grpSpPr>
        <p:sp>
          <p:nvSpPr>
            <p:cNvPr id="179" name="Google Shape;179;p18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w3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2366800" y="3144700"/>
            <a:ext cx="340500" cy="340500"/>
            <a:chOff x="7706300" y="1530025"/>
            <a:chExt cx="340500" cy="340500"/>
          </a:xfrm>
        </p:grpSpPr>
        <p:sp>
          <p:nvSpPr>
            <p:cNvPr id="182" name="Google Shape;182;p18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w4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2366800" y="3632125"/>
            <a:ext cx="340500" cy="340500"/>
            <a:chOff x="7706300" y="1530025"/>
            <a:chExt cx="340500" cy="340500"/>
          </a:xfrm>
        </p:grpSpPr>
        <p:sp>
          <p:nvSpPr>
            <p:cNvPr id="185" name="Google Shape;185;p18"/>
            <p:cNvSpPr/>
            <p:nvPr/>
          </p:nvSpPr>
          <p:spPr>
            <a:xfrm>
              <a:off x="7706300" y="1530025"/>
              <a:ext cx="340500" cy="340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7713800" y="1572625"/>
              <a:ext cx="325500" cy="2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2"/>
                  </a:solidFill>
                </a:rPr>
                <a:t>w5</a:t>
              </a:r>
              <a:endParaRPr sz="800">
                <a:solidFill>
                  <a:schemeClr val="lt2"/>
                </a:solidFill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6525150" y="1275225"/>
            <a:ext cx="17895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2"/>
                </a:solidFill>
              </a:rPr>
              <a:t>2. MIP Global Optimization</a:t>
            </a:r>
            <a:endParaRPr b="1"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Validation Purposes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3776625" y="1645613"/>
            <a:ext cx="1868400" cy="340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Initial </a:t>
            </a:r>
            <a:r>
              <a:rPr lang="en" sz="900">
                <a:solidFill>
                  <a:schemeClr val="lt2"/>
                </a:solidFill>
              </a:rPr>
              <a:t>Charging Demand Gap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753850" y="4368750"/>
            <a:ext cx="1868400" cy="3405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Composite Score</a:t>
            </a:r>
            <a:endParaRPr sz="900">
              <a:solidFill>
                <a:schemeClr val="lt2"/>
              </a:solidFill>
            </a:endParaRPr>
          </a:p>
        </p:txBody>
      </p:sp>
      <p:cxnSp>
        <p:nvCxnSpPr>
          <p:cNvPr id="190" name="Google Shape;190;p18"/>
          <p:cNvCxnSpPr>
            <a:stCxn id="174" idx="1"/>
            <a:endCxn id="174" idx="1"/>
          </p:cNvCxnSpPr>
          <p:nvPr/>
        </p:nvCxnSpPr>
        <p:spPr>
          <a:xfrm>
            <a:off x="2374300" y="18526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8"/>
          <p:cNvCxnSpPr>
            <a:stCxn id="164" idx="3"/>
            <a:endCxn id="174" idx="1"/>
          </p:cNvCxnSpPr>
          <p:nvPr/>
        </p:nvCxnSpPr>
        <p:spPr>
          <a:xfrm>
            <a:off x="2201175" y="185267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8"/>
          <p:cNvCxnSpPr>
            <a:stCxn id="165" idx="3"/>
            <a:endCxn id="177" idx="1"/>
          </p:cNvCxnSpPr>
          <p:nvPr/>
        </p:nvCxnSpPr>
        <p:spPr>
          <a:xfrm>
            <a:off x="2201175" y="2340100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8"/>
          <p:cNvCxnSpPr>
            <a:stCxn id="167" idx="3"/>
            <a:endCxn id="180" idx="1"/>
          </p:cNvCxnSpPr>
          <p:nvPr/>
        </p:nvCxnSpPr>
        <p:spPr>
          <a:xfrm>
            <a:off x="2201175" y="282752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8"/>
          <p:cNvCxnSpPr>
            <a:stCxn id="168" idx="3"/>
            <a:endCxn id="183" idx="1"/>
          </p:cNvCxnSpPr>
          <p:nvPr/>
        </p:nvCxnSpPr>
        <p:spPr>
          <a:xfrm>
            <a:off x="2201175" y="3314950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18"/>
          <p:cNvCxnSpPr>
            <a:stCxn id="166" idx="3"/>
            <a:endCxn id="186" idx="1"/>
          </p:cNvCxnSpPr>
          <p:nvPr/>
        </p:nvCxnSpPr>
        <p:spPr>
          <a:xfrm>
            <a:off x="2201175" y="380237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8"/>
          <p:cNvCxnSpPr>
            <a:stCxn id="174" idx="3"/>
            <a:endCxn id="189" idx="0"/>
          </p:cNvCxnSpPr>
          <p:nvPr/>
        </p:nvCxnSpPr>
        <p:spPr>
          <a:xfrm flipH="1">
            <a:off x="1688200" y="1852675"/>
            <a:ext cx="1011600" cy="2516100"/>
          </a:xfrm>
          <a:prstGeom prst="bentConnector4">
            <a:avLst>
              <a:gd fmla="val -25764" name="adj1"/>
              <a:gd fmla="val 90808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18"/>
          <p:cNvCxnSpPr>
            <a:stCxn id="177" idx="3"/>
            <a:endCxn id="189" idx="0"/>
          </p:cNvCxnSpPr>
          <p:nvPr/>
        </p:nvCxnSpPr>
        <p:spPr>
          <a:xfrm flipH="1">
            <a:off x="1688200" y="2340100"/>
            <a:ext cx="1011600" cy="2028600"/>
          </a:xfrm>
          <a:prstGeom prst="bentConnector4">
            <a:avLst>
              <a:gd fmla="val -25756" name="adj1"/>
              <a:gd fmla="val 88603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8"/>
          <p:cNvCxnSpPr>
            <a:stCxn id="180" idx="3"/>
            <a:endCxn id="189" idx="0"/>
          </p:cNvCxnSpPr>
          <p:nvPr/>
        </p:nvCxnSpPr>
        <p:spPr>
          <a:xfrm flipH="1">
            <a:off x="1688200" y="2827525"/>
            <a:ext cx="1011600" cy="1541100"/>
          </a:xfrm>
          <a:prstGeom prst="bentConnector4">
            <a:avLst>
              <a:gd fmla="val -25213" name="adj1"/>
              <a:gd fmla="val 85003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8"/>
          <p:cNvCxnSpPr>
            <a:stCxn id="183" idx="3"/>
            <a:endCxn id="189" idx="0"/>
          </p:cNvCxnSpPr>
          <p:nvPr/>
        </p:nvCxnSpPr>
        <p:spPr>
          <a:xfrm flipH="1">
            <a:off x="1688200" y="3314950"/>
            <a:ext cx="1011600" cy="1053900"/>
          </a:xfrm>
          <a:prstGeom prst="bentConnector4">
            <a:avLst>
              <a:gd fmla="val -25764" name="adj1"/>
              <a:gd fmla="val 77384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8"/>
          <p:cNvCxnSpPr>
            <a:stCxn id="186" idx="3"/>
            <a:endCxn id="189" idx="0"/>
          </p:cNvCxnSpPr>
          <p:nvPr/>
        </p:nvCxnSpPr>
        <p:spPr>
          <a:xfrm flipH="1">
            <a:off x="1688200" y="3802375"/>
            <a:ext cx="1011600" cy="566400"/>
          </a:xfrm>
          <a:prstGeom prst="bentConnector4">
            <a:avLst>
              <a:gd fmla="val -25213" name="adj1"/>
              <a:gd fmla="val 58669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18"/>
          <p:cNvSpPr txBox="1"/>
          <p:nvPr/>
        </p:nvSpPr>
        <p:spPr>
          <a:xfrm>
            <a:off x="3658275" y="3901275"/>
            <a:ext cx="2108400" cy="4086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Chargers count - 1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Recalculate Charging Demand Gap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632775" y="2396550"/>
            <a:ext cx="2159400" cy="685500"/>
          </a:xfrm>
          <a:prstGeom prst="diamond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/>
              <a:t>for each charger:</a:t>
            </a:r>
            <a:br>
              <a:rPr lang="en" sz="800"/>
            </a:br>
            <a:r>
              <a:rPr lang="en" sz="900"/>
              <a:t>highest score and demand unmet</a:t>
            </a:r>
            <a:endParaRPr sz="900"/>
          </a:p>
        </p:txBody>
      </p:sp>
      <p:cxnSp>
        <p:nvCxnSpPr>
          <p:cNvPr id="203" name="Google Shape;203;p18"/>
          <p:cNvCxnSpPr>
            <a:stCxn id="189" idx="3"/>
            <a:endCxn id="202" idx="0"/>
          </p:cNvCxnSpPr>
          <p:nvPr/>
        </p:nvCxnSpPr>
        <p:spPr>
          <a:xfrm flipH="1" rot="10800000">
            <a:off x="2622250" y="2396400"/>
            <a:ext cx="2090100" cy="2142600"/>
          </a:xfrm>
          <a:prstGeom prst="bentConnector4">
            <a:avLst>
              <a:gd fmla="val 29294" name="adj1"/>
              <a:gd fmla="val 111107" name="adj2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8"/>
          <p:cNvCxnSpPr>
            <a:stCxn id="188" idx="2"/>
            <a:endCxn id="202" idx="0"/>
          </p:cNvCxnSpPr>
          <p:nvPr/>
        </p:nvCxnSpPr>
        <p:spPr>
          <a:xfrm flipH="1" rot="-5400000">
            <a:off x="4506525" y="2190413"/>
            <a:ext cx="410400" cy="18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18"/>
          <p:cNvSpPr txBox="1"/>
          <p:nvPr/>
        </p:nvSpPr>
        <p:spPr>
          <a:xfrm>
            <a:off x="3777975" y="3316413"/>
            <a:ext cx="1868400" cy="3405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Place Charger</a:t>
            </a:r>
            <a:endParaRPr sz="900">
              <a:solidFill>
                <a:schemeClr val="lt2"/>
              </a:solidFill>
            </a:endParaRPr>
          </a:p>
        </p:txBody>
      </p:sp>
      <p:cxnSp>
        <p:nvCxnSpPr>
          <p:cNvPr id="206" name="Google Shape;206;p18"/>
          <p:cNvCxnSpPr>
            <a:stCxn id="201" idx="2"/>
            <a:endCxn id="164" idx="0"/>
          </p:cNvCxnSpPr>
          <p:nvPr/>
        </p:nvCxnSpPr>
        <p:spPr>
          <a:xfrm flipH="1" rot="5400000">
            <a:off x="1676025" y="1273425"/>
            <a:ext cx="2627400" cy="3445500"/>
          </a:xfrm>
          <a:prstGeom prst="bentConnector5">
            <a:avLst>
              <a:gd fmla="val -18093" name="adj1"/>
              <a:gd fmla="val 38994" name="adj2"/>
              <a:gd fmla="val 105799" name="adj3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18"/>
          <p:cNvCxnSpPr>
            <a:stCxn id="202" idx="2"/>
            <a:endCxn id="205" idx="0"/>
          </p:cNvCxnSpPr>
          <p:nvPr/>
        </p:nvCxnSpPr>
        <p:spPr>
          <a:xfrm flipH="1" rot="-5400000">
            <a:off x="4595625" y="3198900"/>
            <a:ext cx="234300" cy="6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8"/>
          <p:cNvCxnSpPr>
            <a:stCxn id="205" idx="2"/>
            <a:endCxn id="201" idx="0"/>
          </p:cNvCxnSpPr>
          <p:nvPr/>
        </p:nvCxnSpPr>
        <p:spPr>
          <a:xfrm flipH="1" rot="-5400000">
            <a:off x="4590225" y="3778863"/>
            <a:ext cx="244500" cy="600"/>
          </a:xfrm>
          <a:prstGeom prst="bentConnector3">
            <a:avLst>
              <a:gd fmla="val 49972" name="adj1"/>
            </a:avLst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8"/>
          <p:cNvSpPr txBox="1"/>
          <p:nvPr/>
        </p:nvSpPr>
        <p:spPr>
          <a:xfrm>
            <a:off x="6525150" y="2021075"/>
            <a:ext cx="2108400" cy="15411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lt2"/>
                </a:solidFill>
              </a:rPr>
              <a:t>Gurobi Optimization</a:t>
            </a:r>
            <a:endParaRPr sz="900" u="sng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u="sng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Decision Vars: </a:t>
            </a:r>
            <a:br>
              <a:rPr lang="en" sz="900">
                <a:solidFill>
                  <a:schemeClr val="lt2"/>
                </a:solidFill>
              </a:rPr>
            </a:br>
            <a:r>
              <a:rPr lang="en" sz="900">
                <a:solidFill>
                  <a:schemeClr val="lt2"/>
                </a:solidFill>
              </a:rPr>
              <a:t>Number of Chargers in each Zip Code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Objective Function:</a:t>
            </a:r>
            <a:br>
              <a:rPr lang="en" sz="900">
                <a:solidFill>
                  <a:schemeClr val="lt2"/>
                </a:solidFill>
              </a:rPr>
            </a:br>
            <a:r>
              <a:rPr lang="en" sz="900">
                <a:solidFill>
                  <a:schemeClr val="lt2"/>
                </a:solidFill>
              </a:rPr>
              <a:t>Maximise Score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101150" y="3802375"/>
            <a:ext cx="1532400" cy="461700"/>
          </a:xfrm>
          <a:prstGeom prst="roundRect">
            <a:avLst>
              <a:gd fmla="val 31705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74% of chargers mapped like greedy approach</a:t>
            </a:r>
            <a:endParaRPr sz="900"/>
          </a:p>
        </p:txBody>
      </p:sp>
      <p:sp>
        <p:nvSpPr>
          <p:cNvPr id="211" name="Google Shape;211;p18"/>
          <p:cNvSpPr/>
          <p:nvPr/>
        </p:nvSpPr>
        <p:spPr>
          <a:xfrm>
            <a:off x="7101150" y="4368850"/>
            <a:ext cx="1532400" cy="461700"/>
          </a:xfrm>
          <a:prstGeom prst="roundRect">
            <a:avLst>
              <a:gd fmla="val 31705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63-74 locations locations </a:t>
            </a:r>
            <a:r>
              <a:rPr lang="en" sz="900"/>
              <a:t>covered under sensitivity analysis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0" y="521225"/>
            <a:ext cx="8982699" cy="239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83452"/>
            <a:ext cx="9143999" cy="2436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ctrTitle"/>
          </p:nvPr>
        </p:nvSpPr>
        <p:spPr>
          <a:xfrm>
            <a:off x="685800" y="2020494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Insights on Drivers of EV Demand</a:t>
            </a:r>
            <a:endParaRPr b="1" sz="3500"/>
          </a:p>
        </p:txBody>
      </p:sp>
      <p:sp>
        <p:nvSpPr>
          <p:cNvPr id="226" name="Google Shape;22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Demographics- Income</a:t>
            </a:r>
            <a:endParaRPr b="1" sz="3000"/>
          </a:p>
        </p:txBody>
      </p:sp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101175" y="1203475"/>
            <a:ext cx="3565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Both Chosen and Not Chosen ZIPs have a strong presence in the 2%–7% upper-income range, showing that chargers weren't exclusively placed in wealthy areas.</a:t>
            </a:r>
            <a:endParaRPr b="1" sz="12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However, Chosen ZIPs extend further into the 10%–20%+ range, suggesting a broader income distribution and a slight skew toward higher-income areas compared to Not Chosen ZIPs.</a:t>
            </a:r>
            <a:endParaRPr b="1" sz="1200">
              <a:solidFill>
                <a:schemeClr val="lt2"/>
              </a:solidFill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50" y="1277975"/>
            <a:ext cx="4595300" cy="316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Demographics- Commute time</a:t>
            </a:r>
            <a:endParaRPr b="1" sz="3000"/>
          </a:p>
        </p:txBody>
      </p:sp>
      <p:sp>
        <p:nvSpPr>
          <p:cNvPr id="241" name="Google Shape;24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101175" y="1203475"/>
            <a:ext cx="356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Not Chosen ZIPs are heavily concentrated in shorter commute times, especially under 5,000 minutes total (suggesting more localized travel or denser areas).</a:t>
            </a:r>
            <a:endParaRPr b="1" sz="12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Chosen ZIPs are more evenly spread out across longer total commute minutes, indicating charger placements tended to occur in areas with higher overall travel burden or possibly larger commuter populations.</a:t>
            </a:r>
            <a:endParaRPr b="1" sz="1200">
              <a:solidFill>
                <a:schemeClr val="lt2"/>
              </a:solidFill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50" y="1218615"/>
            <a:ext cx="4646495" cy="328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Demographics- Education Level</a:t>
            </a:r>
            <a:endParaRPr b="1" sz="3000"/>
          </a:p>
        </p:txBody>
      </p:sp>
      <p:sp>
        <p:nvSpPr>
          <p:cNvPr id="250" name="Google Shape;25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101175" y="1203475"/>
            <a:ext cx="3565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Not Chosen ZIPs have a stronger concentration in areas where only 2–5% of the population has graduate education, indicating lower education density.</a:t>
            </a:r>
            <a:endParaRPr b="1" sz="12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Chosen ZIPs are more evenly spread and slightly skewed toward higher graduate education levels, suggesting that charger placement slightly favored more educated ZIPs.</a:t>
            </a:r>
            <a:endParaRPr b="1" sz="1200">
              <a:solidFill>
                <a:schemeClr val="lt2"/>
              </a:solidFill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50" y="1203475"/>
            <a:ext cx="4899825" cy="34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Demographics- Family </a:t>
            </a:r>
            <a:endParaRPr b="1" sz="3000"/>
          </a:p>
        </p:txBody>
      </p:sp>
      <p:sp>
        <p:nvSpPr>
          <p:cNvPr id="259" name="Google Shape;259;p24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0" name="Google Shape;2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210100" y="1017725"/>
            <a:ext cx="3622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200">
                <a:solidFill>
                  <a:schemeClr val="lt2"/>
                </a:solidFill>
              </a:rPr>
              <a:t>Not Chosen ZIPs are more concentrated around 8–9% of the population being under 10 years old, showing a slightly tighter and lower-centered distribution.</a:t>
            </a:r>
            <a:endParaRPr b="1" sz="12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200">
                <a:solidFill>
                  <a:schemeClr val="lt2"/>
                </a:solidFill>
              </a:rPr>
              <a:t>Chosen ZIPs are more spread out across the 7–14% range, indicating that EV chargers were placed in ZIPs with both average and relatively higher proportions of young children.</a:t>
            </a:r>
            <a:endParaRPr b="1"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</p:txBody>
      </p:sp>
      <p:pic>
        <p:nvPicPr>
          <p:cNvPr id="262" name="Google Shape;2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25" y="1017725"/>
            <a:ext cx="4298825" cy="330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EV Registration</a:t>
            </a:r>
            <a:endParaRPr b="1" sz="3000"/>
          </a:p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5064875" y="1384900"/>
            <a:ext cx="3565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Most ZIP codes, regardless of whether they got chargers or not, have EV ownership rates between 6–9% of the ZIP’s population. That’s where both orange (chosen) and gray (not chosen) bars are concentrated.</a:t>
            </a:r>
            <a:endParaRPr b="1" sz="12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However, ZIPs with chargers (orange) extend farther into higher EV adoption zones (10%–14%), suggesting charger placement was responsive to growing EV demand in those areas.</a:t>
            </a:r>
            <a:endParaRPr b="1" sz="12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0400"/>
            <a:ext cx="497535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ctrTitle"/>
          </p:nvPr>
        </p:nvSpPr>
        <p:spPr>
          <a:xfrm>
            <a:off x="1218600" y="2020500"/>
            <a:ext cx="67068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Operational Execution &amp; Change Management </a:t>
            </a:r>
            <a:endParaRPr b="1" sz="3500"/>
          </a:p>
        </p:txBody>
      </p:sp>
      <p:sp>
        <p:nvSpPr>
          <p:cNvPr id="277" name="Google Shape;27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>
            <p:ph idx="1" type="body"/>
          </p:nvPr>
        </p:nvSpPr>
        <p:spPr>
          <a:xfrm>
            <a:off x="311700" y="1442925"/>
            <a:ext cx="8520600" cy="312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205">
                <a:solidFill>
                  <a:srgbClr val="000000"/>
                </a:solidFill>
              </a:rPr>
              <a:t>Integrated Multi-Source Data</a:t>
            </a:r>
            <a:endParaRPr b="1" sz="1205">
              <a:solidFill>
                <a:srgbClr val="000000"/>
              </a:solidFill>
            </a:endParaRPr>
          </a:p>
          <a:p>
            <a:pPr indent="-305117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5"/>
              <a:buChar char="●"/>
            </a:pPr>
            <a:r>
              <a:rPr lang="en" sz="1205">
                <a:solidFill>
                  <a:srgbClr val="000000"/>
                </a:solidFill>
              </a:rPr>
              <a:t>Standardized ZIP-level data from GM, public infrastructure, demographics, traffic, business sources.</a:t>
            </a:r>
            <a:br>
              <a:rPr lang="en" sz="1205">
                <a:solidFill>
                  <a:srgbClr val="000000"/>
                </a:solidFill>
              </a:rPr>
            </a:br>
            <a:endParaRPr sz="120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205">
                <a:solidFill>
                  <a:srgbClr val="000000"/>
                </a:solidFill>
              </a:rPr>
              <a:t>Iterative Model Development</a:t>
            </a:r>
            <a:endParaRPr b="1" sz="1205">
              <a:solidFill>
                <a:srgbClr val="000000"/>
              </a:solidFill>
            </a:endParaRPr>
          </a:p>
          <a:p>
            <a:pPr indent="-305117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5"/>
              <a:buChar char="●"/>
            </a:pPr>
            <a:r>
              <a:rPr lang="en" sz="1205">
                <a:solidFill>
                  <a:srgbClr val="000000"/>
                </a:solidFill>
              </a:rPr>
              <a:t>Forecasted EV adoption using regression models.</a:t>
            </a:r>
            <a:br>
              <a:rPr lang="en" sz="1205">
                <a:solidFill>
                  <a:srgbClr val="000000"/>
                </a:solidFill>
              </a:rPr>
            </a:br>
            <a:endParaRPr sz="1205">
              <a:solidFill>
                <a:srgbClr val="000000"/>
              </a:solidFill>
            </a:endParaRPr>
          </a:p>
          <a:p>
            <a:pPr indent="-3051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Char char="●"/>
            </a:pPr>
            <a:r>
              <a:rPr lang="en" sz="1205">
                <a:solidFill>
                  <a:srgbClr val="000000"/>
                </a:solidFill>
              </a:rPr>
              <a:t>Used greedy optimization to simulate charger allocations.</a:t>
            </a:r>
            <a:br>
              <a:rPr lang="en" sz="1205">
                <a:solidFill>
                  <a:srgbClr val="000000"/>
                </a:solidFill>
              </a:rPr>
            </a:br>
            <a:endParaRPr sz="1205">
              <a:solidFill>
                <a:srgbClr val="000000"/>
              </a:solidFill>
            </a:endParaRPr>
          </a:p>
          <a:p>
            <a:pPr indent="-3051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Char char="●"/>
            </a:pPr>
            <a:r>
              <a:rPr lang="en" sz="1205">
                <a:solidFill>
                  <a:srgbClr val="000000"/>
                </a:solidFill>
              </a:rPr>
              <a:t>Incorporated demographic, rent, utilization data for prioritization.</a:t>
            </a:r>
            <a:br>
              <a:rPr lang="en" sz="1205">
                <a:solidFill>
                  <a:srgbClr val="000000"/>
                </a:solidFill>
              </a:rPr>
            </a:br>
            <a:endParaRPr sz="1205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205">
                <a:solidFill>
                  <a:srgbClr val="000000"/>
                </a:solidFill>
              </a:rPr>
              <a:t>Pilot Planning &amp; Test Scenarios</a:t>
            </a:r>
            <a:endParaRPr b="1" sz="1205">
              <a:solidFill>
                <a:srgbClr val="000000"/>
              </a:solidFill>
            </a:endParaRPr>
          </a:p>
          <a:p>
            <a:pPr indent="-305117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5"/>
              <a:buChar char="●"/>
            </a:pPr>
            <a:r>
              <a:rPr lang="en" sz="1205">
                <a:solidFill>
                  <a:srgbClr val="000000"/>
                </a:solidFill>
              </a:rPr>
              <a:t>Identified ~350 underserved ZIPs using demand-capacity and business/demographic scores.</a:t>
            </a:r>
            <a:br>
              <a:rPr lang="en" sz="1205">
                <a:solidFill>
                  <a:srgbClr val="000000"/>
                </a:solidFill>
              </a:rPr>
            </a:br>
            <a:endParaRPr sz="1205">
              <a:solidFill>
                <a:srgbClr val="000000"/>
              </a:solidFill>
            </a:endParaRPr>
          </a:p>
          <a:p>
            <a:pPr indent="-30511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Char char="●"/>
            </a:pPr>
            <a:r>
              <a:rPr lang="en" sz="1205">
                <a:solidFill>
                  <a:srgbClr val="000000"/>
                </a:solidFill>
              </a:rPr>
              <a:t>Simulated initial charger placement (e.g., 100 chargers using greedy optimization).</a:t>
            </a:r>
            <a:br>
              <a:rPr lang="en" sz="1205">
                <a:solidFill>
                  <a:srgbClr val="000000"/>
                </a:solidFill>
              </a:rPr>
            </a:br>
            <a:endParaRPr sz="1205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700"/>
          </a:p>
        </p:txBody>
      </p:sp>
      <p:sp>
        <p:nvSpPr>
          <p:cNvPr id="283" name="Google Shape;28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Operational Execution &amp; Pilot Planning</a:t>
            </a:r>
            <a:endParaRPr b="1"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idx="1" type="body"/>
          </p:nvPr>
        </p:nvSpPr>
        <p:spPr>
          <a:xfrm>
            <a:off x="311700" y="1315325"/>
            <a:ext cx="8520600" cy="325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Transition to Action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Defined KPIs: charging demand fulfillment, profits, traffic, business and demographics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Delivered final recommendations aligned to GM goals and budget.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Next Steps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Deployment Strategy:</a:t>
            </a:r>
            <a:r>
              <a:rPr lang="en" sz="1200">
                <a:solidFill>
                  <a:srgbClr val="000000"/>
                </a:solidFill>
              </a:rPr>
              <a:t> Begin with the top-tier ZIP codes identified by the model, focusing on areas with the largest charging demand gap and strongest profit potential.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Pilot → Scale:</a:t>
            </a:r>
            <a:r>
              <a:rPr lang="en" sz="1200">
                <a:solidFill>
                  <a:srgbClr val="000000"/>
                </a:solidFill>
              </a:rPr>
              <a:t> Launch initial chargers in high-priority zones, then scale using our repeatable, data-driven framework across other states or markets.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</a:rPr>
              <a:t>Ongoing Monitoring:</a:t>
            </a:r>
            <a:r>
              <a:rPr lang="en" sz="1200">
                <a:solidFill>
                  <a:srgbClr val="000000"/>
                </a:solidFill>
              </a:rPr>
              <a:t> Use internal dashboards to track charger usage, EV growth, and ROI</a:t>
            </a:r>
            <a:br>
              <a:rPr b="1" lang="en" sz="1200">
                <a:solidFill>
                  <a:srgbClr val="000000"/>
                </a:solidFill>
              </a:rPr>
            </a:b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</a:endParaRPr>
          </a:p>
        </p:txBody>
      </p:sp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28"/>
          <p:cNvSpPr txBox="1"/>
          <p:nvPr>
            <p:ph type="title"/>
          </p:nvPr>
        </p:nvSpPr>
        <p:spPr>
          <a:xfrm>
            <a:off x="351400" y="5343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Change Management &amp; Next Steps</a:t>
            </a:r>
            <a:endParaRPr b="1" sz="2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ctrTitle"/>
          </p:nvPr>
        </p:nvSpPr>
        <p:spPr>
          <a:xfrm>
            <a:off x="685800" y="2020494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Thank you</a:t>
            </a:r>
            <a:endParaRPr b="1" sz="3500"/>
          </a:p>
        </p:txBody>
      </p:sp>
      <p:sp>
        <p:nvSpPr>
          <p:cNvPr id="297" name="Google Shape;29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